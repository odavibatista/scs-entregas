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10287000" cx="18288000"/>
  <p:notesSz cx="6858000" cy="9144000"/>
  <p:embeddedFontLst>
    <p:embeddedFont>
      <p:font typeface="Anonymous Pr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jQuSP2dxeg10SqSSkfX+rHNx8s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nonymousPr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nonymousPr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AnonymousPro-italic.fntdata"/><Relationship Id="rId6" Type="http://schemas.openxmlformats.org/officeDocument/2006/relationships/slide" Target="slides/slide1.xml"/><Relationship Id="rId18" Type="http://schemas.openxmlformats.org/officeDocument/2006/relationships/font" Target="fonts/Anonymous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a1240799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aa12407991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a1240799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aa12407991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17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9.jpg"/><Relationship Id="rId6" Type="http://schemas.openxmlformats.org/officeDocument/2006/relationships/image" Target="../media/image8.jpg"/><Relationship Id="rId7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14.jpg"/><Relationship Id="rId5" Type="http://schemas.openxmlformats.org/officeDocument/2006/relationships/image" Target="../media/image23.jpg"/><Relationship Id="rId6" Type="http://schemas.openxmlformats.org/officeDocument/2006/relationships/image" Target="../media/image10.png"/><Relationship Id="rId7" Type="http://schemas.openxmlformats.org/officeDocument/2006/relationships/image" Target="../media/image11.jp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13.jpg"/><Relationship Id="rId6" Type="http://schemas.openxmlformats.org/officeDocument/2006/relationships/image" Target="../media/image7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6.jpg"/><Relationship Id="rId5" Type="http://schemas.openxmlformats.org/officeDocument/2006/relationships/image" Target="../media/image21.jpg"/><Relationship Id="rId6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22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2.png"/><Relationship Id="rId5" Type="http://schemas.openxmlformats.org/officeDocument/2006/relationships/image" Target="../media/image24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png"/><Relationship Id="rId5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216255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/>
          <p:nvPr/>
        </p:nvSpPr>
        <p:spPr>
          <a:xfrm>
            <a:off x="14736377" y="7936471"/>
            <a:ext cx="3551623" cy="2350529"/>
          </a:xfrm>
          <a:custGeom>
            <a:rect b="b" l="l" r="r" t="t"/>
            <a:pathLst>
              <a:path extrusionOk="0" h="2350529" w="3551623">
                <a:moveTo>
                  <a:pt x="0" y="0"/>
                </a:moveTo>
                <a:lnTo>
                  <a:pt x="3551623" y="0"/>
                </a:lnTo>
                <a:lnTo>
                  <a:pt x="3551623" y="2350529"/>
                </a:lnTo>
                <a:lnTo>
                  <a:pt x="0" y="23505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6" name="Google Shape;86;p1"/>
          <p:cNvSpPr/>
          <p:nvPr/>
        </p:nvSpPr>
        <p:spPr>
          <a:xfrm flipH="1">
            <a:off x="-897" y="7948733"/>
            <a:ext cx="3551623" cy="2350529"/>
          </a:xfrm>
          <a:custGeom>
            <a:rect b="b" l="l" r="r" t="t"/>
            <a:pathLst>
              <a:path extrusionOk="0" h="2350529" w="3551623">
                <a:moveTo>
                  <a:pt x="3551623" y="0"/>
                </a:moveTo>
                <a:lnTo>
                  <a:pt x="0" y="0"/>
                </a:lnTo>
                <a:lnTo>
                  <a:pt x="0" y="2350529"/>
                </a:lnTo>
                <a:lnTo>
                  <a:pt x="3551623" y="2350529"/>
                </a:lnTo>
                <a:lnTo>
                  <a:pt x="3551623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"/>
          <p:cNvGrpSpPr/>
          <p:nvPr/>
        </p:nvGrpSpPr>
        <p:grpSpPr>
          <a:xfrm>
            <a:off x="7203737" y="8407076"/>
            <a:ext cx="3880526" cy="851224"/>
            <a:chOff x="0" y="-47625"/>
            <a:chExt cx="1022031" cy="224191"/>
          </a:xfrm>
        </p:grpSpPr>
        <p:sp>
          <p:nvSpPr>
            <p:cNvPr id="88" name="Google Shape;88;p1"/>
            <p:cNvSpPr/>
            <p:nvPr/>
          </p:nvSpPr>
          <p:spPr>
            <a:xfrm>
              <a:off x="0" y="0"/>
              <a:ext cx="1022031" cy="176566"/>
            </a:xfrm>
            <a:custGeom>
              <a:rect b="b" l="l" r="r" t="t"/>
              <a:pathLst>
                <a:path extrusionOk="0" h="176566" w="1022031">
                  <a:moveTo>
                    <a:pt x="0" y="0"/>
                  </a:moveTo>
                  <a:lnTo>
                    <a:pt x="1022031" y="0"/>
                  </a:lnTo>
                  <a:lnTo>
                    <a:pt x="1022031" y="176566"/>
                  </a:lnTo>
                  <a:lnTo>
                    <a:pt x="0" y="1765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sq" cmpd="sng" w="19050">
              <a:solidFill>
                <a:srgbClr val="C1FF72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89" name="Google Shape;89;p1"/>
            <p:cNvSpPr txBox="1"/>
            <p:nvPr/>
          </p:nvSpPr>
          <p:spPr>
            <a:xfrm>
              <a:off x="0" y="-47625"/>
              <a:ext cx="1022031" cy="2241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/>
          <p:nvPr/>
        </p:nvSpPr>
        <p:spPr>
          <a:xfrm>
            <a:off x="1028700" y="5063866"/>
            <a:ext cx="637073" cy="159268"/>
          </a:xfrm>
          <a:custGeom>
            <a:rect b="b" l="l" r="r" t="t"/>
            <a:pathLst>
              <a:path extrusionOk="0"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"/>
          <p:cNvSpPr/>
          <p:nvPr/>
        </p:nvSpPr>
        <p:spPr>
          <a:xfrm>
            <a:off x="16622227" y="5063866"/>
            <a:ext cx="637073" cy="159268"/>
          </a:xfrm>
          <a:custGeom>
            <a:rect b="b" l="l" r="r" t="t"/>
            <a:pathLst>
              <a:path extrusionOk="0"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"/>
          <p:cNvSpPr/>
          <p:nvPr/>
        </p:nvSpPr>
        <p:spPr>
          <a:xfrm>
            <a:off x="7759812" y="1133475"/>
            <a:ext cx="2768376" cy="2692875"/>
          </a:xfrm>
          <a:custGeom>
            <a:rect b="b" l="l" r="r" t="t"/>
            <a:pathLst>
              <a:path extrusionOk="0" h="2692875" w="2768376">
                <a:moveTo>
                  <a:pt x="0" y="0"/>
                </a:moveTo>
                <a:lnTo>
                  <a:pt x="2768376" y="0"/>
                </a:lnTo>
                <a:lnTo>
                  <a:pt x="2768376" y="2692875"/>
                </a:lnTo>
                <a:lnTo>
                  <a:pt x="0" y="26928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 txBox="1"/>
          <p:nvPr/>
        </p:nvSpPr>
        <p:spPr>
          <a:xfrm>
            <a:off x="2249208" y="4222682"/>
            <a:ext cx="14024348" cy="2941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42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CIDADES INTELIGENTES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42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994992" y="6125271"/>
            <a:ext cx="14627235" cy="24626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71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MONITORAMENTO AÉREO </a:t>
            </a:r>
            <a:endParaRPr/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671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PARA COLETA DE LIXO</a:t>
            </a:r>
            <a:endParaRPr/>
          </a:p>
          <a:p>
            <a:pPr indent="0" lvl="0" marL="0" marR="0" rtl="0" algn="ctr">
              <a:lnSpc>
                <a:spcPct val="13999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671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39599" y="505143"/>
            <a:ext cx="7031576" cy="9994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DAVI DEOSMAR BATISTA OLIVEIRA MIRANDA - 823.212.382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SILAS RODRIGUES NASCIMENTO - 823.273.38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7471176" y="8741174"/>
            <a:ext cx="3345649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26 de Novembro 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/>
          <p:nvPr/>
        </p:nvSpPr>
        <p:spPr>
          <a:xfrm>
            <a:off x="0" y="0"/>
            <a:ext cx="199339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2" name="Google Shape;102;p2"/>
          <p:cNvSpPr/>
          <p:nvPr/>
        </p:nvSpPr>
        <p:spPr>
          <a:xfrm>
            <a:off x="617166" y="4364801"/>
            <a:ext cx="5196494" cy="3526110"/>
          </a:xfrm>
          <a:custGeom>
            <a:rect b="b" l="l" r="r" t="t"/>
            <a:pathLst>
              <a:path extrusionOk="0" h="1330745" w="1961144">
                <a:moveTo>
                  <a:pt x="1501838" y="716958"/>
                </a:moveTo>
                <a:lnTo>
                  <a:pt x="1501838" y="557293"/>
                </a:lnTo>
                <a:cubicBezTo>
                  <a:pt x="1501839" y="524360"/>
                  <a:pt x="1488757" y="492776"/>
                  <a:pt x="1465470" y="469489"/>
                </a:cubicBezTo>
                <a:cubicBezTo>
                  <a:pt x="1442183" y="446202"/>
                  <a:pt x="1410599" y="433120"/>
                  <a:pt x="1377667" y="433120"/>
                </a:cubicBezTo>
                <a:lnTo>
                  <a:pt x="867306" y="433120"/>
                </a:lnTo>
                <a:cubicBezTo>
                  <a:pt x="798728" y="433120"/>
                  <a:pt x="743134" y="377526"/>
                  <a:pt x="743134" y="308948"/>
                </a:cubicBezTo>
                <a:lnTo>
                  <a:pt x="743134" y="124172"/>
                </a:lnTo>
                <a:cubicBezTo>
                  <a:pt x="743133" y="55594"/>
                  <a:pt x="687540" y="1"/>
                  <a:pt x="618962" y="0"/>
                </a:cubicBezTo>
                <a:lnTo>
                  <a:pt x="124172" y="0"/>
                </a:lnTo>
                <a:cubicBezTo>
                  <a:pt x="55594" y="1"/>
                  <a:pt x="1" y="55594"/>
                  <a:pt x="0" y="124172"/>
                </a:cubicBezTo>
                <a:lnTo>
                  <a:pt x="0" y="489613"/>
                </a:lnTo>
                <a:lnTo>
                  <a:pt x="0" y="798561"/>
                </a:lnTo>
                <a:cubicBezTo>
                  <a:pt x="0" y="867139"/>
                  <a:pt x="55593" y="922733"/>
                  <a:pt x="124172" y="922734"/>
                </a:cubicBezTo>
                <a:lnTo>
                  <a:pt x="1093836" y="922734"/>
                </a:lnTo>
                <a:cubicBezTo>
                  <a:pt x="1126768" y="922733"/>
                  <a:pt x="1158352" y="935816"/>
                  <a:pt x="1181639" y="959102"/>
                </a:cubicBezTo>
                <a:cubicBezTo>
                  <a:pt x="1204926" y="982389"/>
                  <a:pt x="1218008" y="1013973"/>
                  <a:pt x="1218007" y="1046905"/>
                </a:cubicBezTo>
                <a:lnTo>
                  <a:pt x="1218007" y="1206572"/>
                </a:lnTo>
                <a:cubicBezTo>
                  <a:pt x="1218007" y="1275151"/>
                  <a:pt x="1273602" y="1330745"/>
                  <a:pt x="1342180" y="1330745"/>
                </a:cubicBezTo>
                <a:lnTo>
                  <a:pt x="1836973" y="1330745"/>
                </a:lnTo>
                <a:cubicBezTo>
                  <a:pt x="1869905" y="1330745"/>
                  <a:pt x="1901489" y="1317663"/>
                  <a:pt x="1924776" y="1294376"/>
                </a:cubicBezTo>
                <a:cubicBezTo>
                  <a:pt x="1948062" y="1271089"/>
                  <a:pt x="1961145" y="1239505"/>
                  <a:pt x="1961144" y="1206572"/>
                </a:cubicBezTo>
                <a:lnTo>
                  <a:pt x="1961144" y="965303"/>
                </a:lnTo>
                <a:cubicBezTo>
                  <a:pt x="1961145" y="932370"/>
                  <a:pt x="1948062" y="900787"/>
                  <a:pt x="1924776" y="877500"/>
                </a:cubicBezTo>
                <a:cubicBezTo>
                  <a:pt x="1901489" y="854213"/>
                  <a:pt x="1869905" y="841131"/>
                  <a:pt x="1836973" y="841131"/>
                </a:cubicBezTo>
                <a:lnTo>
                  <a:pt x="1626013" y="841131"/>
                </a:lnTo>
                <a:cubicBezTo>
                  <a:pt x="1593080" y="841132"/>
                  <a:pt x="1561495" y="828049"/>
                  <a:pt x="1538208" y="804762"/>
                </a:cubicBezTo>
                <a:cubicBezTo>
                  <a:pt x="1514921" y="781475"/>
                  <a:pt x="1501838" y="749891"/>
                  <a:pt x="1501838" y="716958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36104" l="-36601" r="-201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42241" y="7116226"/>
            <a:ext cx="5371416" cy="2640946"/>
          </a:xfrm>
          <a:custGeom>
            <a:rect b="b" l="l" r="r" t="t"/>
            <a:pathLst>
              <a:path extrusionOk="0" h="934188" w="1900043">
                <a:moveTo>
                  <a:pt x="1103521" y="238261"/>
                </a:moveTo>
                <a:lnTo>
                  <a:pt x="1103521" y="106342"/>
                </a:lnTo>
                <a:cubicBezTo>
                  <a:pt x="1103521" y="78138"/>
                  <a:pt x="1092317" y="51090"/>
                  <a:pt x="1072374" y="31147"/>
                </a:cubicBezTo>
                <a:cubicBezTo>
                  <a:pt x="1052431" y="11204"/>
                  <a:pt x="1025382" y="0"/>
                  <a:pt x="997179" y="0"/>
                </a:cubicBezTo>
                <a:lnTo>
                  <a:pt x="106342" y="0"/>
                </a:lnTo>
                <a:cubicBezTo>
                  <a:pt x="47611" y="1"/>
                  <a:pt x="1" y="47611"/>
                  <a:pt x="0" y="106342"/>
                </a:cubicBezTo>
                <a:lnTo>
                  <a:pt x="0" y="416170"/>
                </a:lnTo>
                <a:cubicBezTo>
                  <a:pt x="1" y="474901"/>
                  <a:pt x="47611" y="522512"/>
                  <a:pt x="106342" y="522512"/>
                </a:cubicBezTo>
                <a:lnTo>
                  <a:pt x="376585" y="522512"/>
                </a:lnTo>
                <a:cubicBezTo>
                  <a:pt x="404789" y="522512"/>
                  <a:pt x="431838" y="533716"/>
                  <a:pt x="451781" y="553659"/>
                </a:cubicBezTo>
                <a:cubicBezTo>
                  <a:pt x="471724" y="573602"/>
                  <a:pt x="482928" y="600651"/>
                  <a:pt x="482928" y="628854"/>
                </a:cubicBezTo>
                <a:lnTo>
                  <a:pt x="482928" y="827846"/>
                </a:lnTo>
                <a:cubicBezTo>
                  <a:pt x="482928" y="886577"/>
                  <a:pt x="530539" y="934187"/>
                  <a:pt x="589270" y="934188"/>
                </a:cubicBezTo>
                <a:lnTo>
                  <a:pt x="1793701" y="934188"/>
                </a:lnTo>
                <a:cubicBezTo>
                  <a:pt x="1821905" y="934188"/>
                  <a:pt x="1848953" y="922984"/>
                  <a:pt x="1868896" y="903041"/>
                </a:cubicBezTo>
                <a:cubicBezTo>
                  <a:pt x="1888839" y="883098"/>
                  <a:pt x="1900043" y="856049"/>
                  <a:pt x="1900043" y="827846"/>
                </a:cubicBezTo>
                <a:lnTo>
                  <a:pt x="1900043" y="450945"/>
                </a:lnTo>
                <a:cubicBezTo>
                  <a:pt x="1900043" y="422742"/>
                  <a:pt x="1888839" y="395693"/>
                  <a:pt x="1868896" y="375750"/>
                </a:cubicBezTo>
                <a:cubicBezTo>
                  <a:pt x="1848953" y="355807"/>
                  <a:pt x="1821905" y="344603"/>
                  <a:pt x="1793701" y="344603"/>
                </a:cubicBezTo>
                <a:lnTo>
                  <a:pt x="1209863" y="344603"/>
                </a:lnTo>
                <a:cubicBezTo>
                  <a:pt x="1151132" y="344603"/>
                  <a:pt x="1103521" y="296992"/>
                  <a:pt x="1103521" y="238261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133" l="0" r="0" t="-713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"/>
          <p:cNvSpPr/>
          <p:nvPr/>
        </p:nvSpPr>
        <p:spPr>
          <a:xfrm rot="5400000">
            <a:off x="3003512" y="3854192"/>
            <a:ext cx="6106920" cy="4547312"/>
          </a:xfrm>
          <a:custGeom>
            <a:rect b="b" l="l" r="r" t="t"/>
            <a:pathLst>
              <a:path extrusionOk="0" h="1457862" w="1957870">
                <a:moveTo>
                  <a:pt x="0" y="83985"/>
                </a:moveTo>
                <a:lnTo>
                  <a:pt x="0" y="1373877"/>
                </a:lnTo>
                <a:cubicBezTo>
                  <a:pt x="0" y="1420260"/>
                  <a:pt x="37601" y="1457862"/>
                  <a:pt x="83985" y="1457862"/>
                </a:cubicBezTo>
                <a:lnTo>
                  <a:pt x="508762" y="1457862"/>
                </a:lnTo>
                <a:cubicBezTo>
                  <a:pt x="531036" y="1457862"/>
                  <a:pt x="552399" y="1449014"/>
                  <a:pt x="568149" y="1433263"/>
                </a:cubicBezTo>
                <a:cubicBezTo>
                  <a:pt x="583899" y="1417513"/>
                  <a:pt x="592747" y="1396151"/>
                  <a:pt x="592747" y="1373877"/>
                </a:cubicBezTo>
                <a:lnTo>
                  <a:pt x="592747" y="1206816"/>
                </a:lnTo>
                <a:cubicBezTo>
                  <a:pt x="592748" y="1160432"/>
                  <a:pt x="630350" y="1122831"/>
                  <a:pt x="676733" y="1122831"/>
                </a:cubicBezTo>
                <a:lnTo>
                  <a:pt x="955471" y="1122831"/>
                </a:lnTo>
                <a:cubicBezTo>
                  <a:pt x="977745" y="1122831"/>
                  <a:pt x="999107" y="1113983"/>
                  <a:pt x="1014858" y="1098232"/>
                </a:cubicBezTo>
                <a:cubicBezTo>
                  <a:pt x="1030608" y="1082482"/>
                  <a:pt x="1039457" y="1061120"/>
                  <a:pt x="1039457" y="1038846"/>
                </a:cubicBezTo>
                <a:lnTo>
                  <a:pt x="1039457" y="837424"/>
                </a:lnTo>
                <a:cubicBezTo>
                  <a:pt x="1039457" y="815149"/>
                  <a:pt x="1048305" y="793787"/>
                  <a:pt x="1064055" y="778037"/>
                </a:cubicBezTo>
                <a:cubicBezTo>
                  <a:pt x="1079806" y="762286"/>
                  <a:pt x="1101168" y="753438"/>
                  <a:pt x="1123442" y="753439"/>
                </a:cubicBezTo>
                <a:lnTo>
                  <a:pt x="1873885" y="753439"/>
                </a:lnTo>
                <a:cubicBezTo>
                  <a:pt x="1896159" y="753439"/>
                  <a:pt x="1917522" y="744590"/>
                  <a:pt x="1933272" y="728839"/>
                </a:cubicBezTo>
                <a:cubicBezTo>
                  <a:pt x="1949022" y="713089"/>
                  <a:pt x="1957870" y="691727"/>
                  <a:pt x="1957870" y="669452"/>
                </a:cubicBezTo>
                <a:lnTo>
                  <a:pt x="1957870" y="83985"/>
                </a:lnTo>
                <a:cubicBezTo>
                  <a:pt x="1957870" y="37601"/>
                  <a:pt x="1920269" y="0"/>
                  <a:pt x="1873885" y="0"/>
                </a:cubicBezTo>
                <a:lnTo>
                  <a:pt x="83985" y="0"/>
                </a:lnTo>
                <a:cubicBezTo>
                  <a:pt x="37602" y="1"/>
                  <a:pt x="1" y="37602"/>
                  <a:pt x="0" y="83985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11761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5486400" y="323326"/>
            <a:ext cx="7315200" cy="2433967"/>
          </a:xfrm>
          <a:custGeom>
            <a:rect b="b" l="l" r="r" t="t"/>
            <a:pathLst>
              <a:path extrusionOk="0"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6" name="Google Shape;106;p2"/>
          <p:cNvSpPr txBox="1"/>
          <p:nvPr/>
        </p:nvSpPr>
        <p:spPr>
          <a:xfrm>
            <a:off x="5521877" y="1135324"/>
            <a:ext cx="7421107" cy="10766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51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INTRODUÇÃO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9370000" y="3248075"/>
            <a:ext cx="7773300" cy="12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99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299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 internet e a evolução das comunicações permitiu o advento de novas formas de melhorar e gerenciar os ambientes urbanos e suas funções.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485950" y="5487450"/>
            <a:ext cx="75414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- Embora com uma evolução recente, a IA já é usada em algumas implementações de IoT e smart cities na área da segurança, o que nos abre novas oportunidades e facilidades.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485954" y="7690247"/>
            <a:ext cx="7541400" cy="7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Entretanto, não só de segurança física se faz um ambiente urbano seguro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…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0" y="0"/>
            <a:ext cx="244602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3"/>
          <p:cNvSpPr/>
          <p:nvPr/>
        </p:nvSpPr>
        <p:spPr>
          <a:xfrm>
            <a:off x="12181396" y="1559282"/>
            <a:ext cx="5806493" cy="5249181"/>
          </a:xfrm>
          <a:custGeom>
            <a:rect b="b" l="l" r="r" t="t"/>
            <a:pathLst>
              <a:path extrusionOk="0" h="5741670" w="63512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7841" r="-1784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 flipH="1">
            <a:off x="9106433" y="4583292"/>
            <a:ext cx="5566846" cy="5032536"/>
          </a:xfrm>
          <a:custGeom>
            <a:rect b="b" l="l" r="r" t="t"/>
            <a:pathLst>
              <a:path extrusionOk="0" h="5741670" w="6351270">
                <a:moveTo>
                  <a:pt x="0" y="5199380"/>
                </a:moveTo>
                <a:lnTo>
                  <a:pt x="0" y="3348990"/>
                </a:lnTo>
                <a:cubicBezTo>
                  <a:pt x="0" y="3050540"/>
                  <a:pt x="242570" y="2807970"/>
                  <a:pt x="542290" y="2807970"/>
                </a:cubicBezTo>
                <a:lnTo>
                  <a:pt x="1148080" y="2807970"/>
                </a:lnTo>
                <a:cubicBezTo>
                  <a:pt x="1447800" y="2807970"/>
                  <a:pt x="1690370" y="2565400"/>
                  <a:pt x="1690370" y="2265680"/>
                </a:cubicBezTo>
                <a:lnTo>
                  <a:pt x="1690370" y="542290"/>
                </a:lnTo>
                <a:cubicBezTo>
                  <a:pt x="1690370" y="242570"/>
                  <a:pt x="1932940" y="0"/>
                  <a:pt x="2232660" y="0"/>
                </a:cubicBezTo>
                <a:lnTo>
                  <a:pt x="3599180" y="0"/>
                </a:lnTo>
                <a:cubicBezTo>
                  <a:pt x="3735070" y="0"/>
                  <a:pt x="3867150" y="52070"/>
                  <a:pt x="3967480" y="143510"/>
                </a:cubicBezTo>
                <a:lnTo>
                  <a:pt x="6177280" y="2188210"/>
                </a:lnTo>
                <a:cubicBezTo>
                  <a:pt x="6287770" y="2291080"/>
                  <a:pt x="6351270" y="2434590"/>
                  <a:pt x="6351270" y="2585720"/>
                </a:cubicBezTo>
                <a:lnTo>
                  <a:pt x="6351270" y="5199380"/>
                </a:lnTo>
                <a:cubicBezTo>
                  <a:pt x="6350000" y="5499100"/>
                  <a:pt x="6107430" y="5741670"/>
                  <a:pt x="5807710" y="5741670"/>
                </a:cubicBezTo>
                <a:lnTo>
                  <a:pt x="542290" y="5741670"/>
                </a:lnTo>
                <a:cubicBezTo>
                  <a:pt x="242570" y="5741670"/>
                  <a:pt x="0" y="5499100"/>
                  <a:pt x="0" y="519938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6283" l="-25676" r="-34461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10163346" y="2632198"/>
            <a:ext cx="1875812" cy="2074969"/>
          </a:xfrm>
          <a:custGeom>
            <a:rect b="b" l="l" r="r" t="t"/>
            <a:pathLst>
              <a:path extrusionOk="0" h="6351270" w="5741670">
                <a:moveTo>
                  <a:pt x="542290" y="6351270"/>
                </a:moveTo>
                <a:lnTo>
                  <a:pt x="2392680" y="6351270"/>
                </a:lnTo>
                <a:cubicBezTo>
                  <a:pt x="2691130" y="6351270"/>
                  <a:pt x="2933700" y="6108700"/>
                  <a:pt x="2933700" y="5808980"/>
                </a:cubicBezTo>
                <a:lnTo>
                  <a:pt x="2933700" y="5203190"/>
                </a:lnTo>
                <a:cubicBezTo>
                  <a:pt x="2933700" y="4903470"/>
                  <a:pt x="3176270" y="4660900"/>
                  <a:pt x="3475990" y="4660900"/>
                </a:cubicBezTo>
                <a:lnTo>
                  <a:pt x="5199380" y="4660900"/>
                </a:lnTo>
                <a:cubicBezTo>
                  <a:pt x="5499100" y="4660900"/>
                  <a:pt x="5741670" y="4418330"/>
                  <a:pt x="5741670" y="4118610"/>
                </a:cubicBezTo>
                <a:lnTo>
                  <a:pt x="5741670" y="2752090"/>
                </a:lnTo>
                <a:cubicBezTo>
                  <a:pt x="5741670" y="2616200"/>
                  <a:pt x="5689600" y="2484120"/>
                  <a:pt x="5598160" y="2383790"/>
                </a:cubicBezTo>
                <a:lnTo>
                  <a:pt x="3553460" y="173990"/>
                </a:lnTo>
                <a:cubicBezTo>
                  <a:pt x="3450590" y="63500"/>
                  <a:pt x="3307080" y="0"/>
                  <a:pt x="3155950" y="0"/>
                </a:cubicBezTo>
                <a:lnTo>
                  <a:pt x="542290" y="0"/>
                </a:lnTo>
                <a:cubicBezTo>
                  <a:pt x="242570" y="1270"/>
                  <a:pt x="0" y="243840"/>
                  <a:pt x="0" y="543560"/>
                </a:cubicBezTo>
                <a:lnTo>
                  <a:pt x="0" y="5808980"/>
                </a:lnTo>
                <a:cubicBezTo>
                  <a:pt x="0" y="6108700"/>
                  <a:pt x="242570" y="6351270"/>
                  <a:pt x="542290" y="635127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77184" l="-27444" r="-175310" t="-551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15036703" y="6806712"/>
            <a:ext cx="2950025" cy="2666879"/>
          </a:xfrm>
          <a:custGeom>
            <a:rect b="b" l="l" r="r" t="t"/>
            <a:pathLst>
              <a:path extrusionOk="0" h="5741670" w="6351270">
                <a:moveTo>
                  <a:pt x="6351270" y="5199380"/>
                </a:moveTo>
                <a:lnTo>
                  <a:pt x="6351270" y="3348990"/>
                </a:lnTo>
                <a:cubicBezTo>
                  <a:pt x="6351270" y="3050540"/>
                  <a:pt x="6108700" y="2807970"/>
                  <a:pt x="5808980" y="2807970"/>
                </a:cubicBezTo>
                <a:lnTo>
                  <a:pt x="5203190" y="2807970"/>
                </a:lnTo>
                <a:cubicBezTo>
                  <a:pt x="4903470" y="2807970"/>
                  <a:pt x="4660900" y="2565400"/>
                  <a:pt x="4660900" y="2265680"/>
                </a:cubicBezTo>
                <a:lnTo>
                  <a:pt x="4660900" y="542290"/>
                </a:lnTo>
                <a:cubicBezTo>
                  <a:pt x="4660900" y="242570"/>
                  <a:pt x="4418330" y="0"/>
                  <a:pt x="4118610" y="0"/>
                </a:cubicBezTo>
                <a:lnTo>
                  <a:pt x="2752090" y="0"/>
                </a:lnTo>
                <a:cubicBezTo>
                  <a:pt x="2616200" y="0"/>
                  <a:pt x="2484120" y="52070"/>
                  <a:pt x="2383790" y="143510"/>
                </a:cubicBezTo>
                <a:lnTo>
                  <a:pt x="173990" y="2188210"/>
                </a:lnTo>
                <a:cubicBezTo>
                  <a:pt x="63500" y="2291080"/>
                  <a:pt x="0" y="2434590"/>
                  <a:pt x="0" y="2585720"/>
                </a:cubicBezTo>
                <a:lnTo>
                  <a:pt x="0" y="5199380"/>
                </a:lnTo>
                <a:cubicBezTo>
                  <a:pt x="1270" y="5499100"/>
                  <a:pt x="243840" y="5741670"/>
                  <a:pt x="543560" y="5741670"/>
                </a:cubicBezTo>
                <a:lnTo>
                  <a:pt x="5808980" y="5741670"/>
                </a:lnTo>
                <a:cubicBezTo>
                  <a:pt x="6108700" y="5741670"/>
                  <a:pt x="6351270" y="5499100"/>
                  <a:pt x="6351270" y="5199380"/>
                </a:cubicBez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-10398" r="-1039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1028700" y="1597382"/>
            <a:ext cx="7667625" cy="15214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LIXO NOS AMBIENTES URBANOS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05113" y="4777540"/>
            <a:ext cx="77148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Há alguns anos, o governo estadual tem se empenhado em políticas para recuperar áreas naturais perdidas pelo excesso de poluição, acúmulo e descarte indevido de resíduos de lixo.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1028175" y="6944999"/>
            <a:ext cx="77148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Ainda neste ano, foi constatado mediante relatórios que a qualidade das águas do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Rio Pinheiros (um dos alvos das políticas)</a:t>
            </a: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está no grau "péssima"</a:t>
            </a: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(O GLOBO, 2025).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685417" y="1171257"/>
            <a:ext cx="8229771" cy="2738269"/>
          </a:xfrm>
          <a:custGeom>
            <a:rect b="b" l="l" r="r" t="t"/>
            <a:pathLst>
              <a:path extrusionOk="0" h="2738269" w="8229771">
                <a:moveTo>
                  <a:pt x="0" y="0"/>
                </a:moveTo>
                <a:lnTo>
                  <a:pt x="8229771" y="0"/>
                </a:lnTo>
                <a:lnTo>
                  <a:pt x="8229771" y="2738270"/>
                </a:lnTo>
                <a:lnTo>
                  <a:pt x="0" y="27382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217627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8" name="Google Shape;128;p4"/>
          <p:cNvSpPr/>
          <p:nvPr/>
        </p:nvSpPr>
        <p:spPr>
          <a:xfrm>
            <a:off x="5486400" y="323326"/>
            <a:ext cx="7315200" cy="2433967"/>
          </a:xfrm>
          <a:custGeom>
            <a:rect b="b" l="l" r="r" t="t"/>
            <a:pathLst>
              <a:path extrusionOk="0" h="2433967" w="7315200">
                <a:moveTo>
                  <a:pt x="0" y="0"/>
                </a:moveTo>
                <a:lnTo>
                  <a:pt x="7315200" y="0"/>
                </a:lnTo>
                <a:lnTo>
                  <a:pt x="7315200" y="2433967"/>
                </a:lnTo>
                <a:lnTo>
                  <a:pt x="0" y="24339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9" name="Google Shape;129;p4"/>
          <p:cNvSpPr/>
          <p:nvPr/>
        </p:nvSpPr>
        <p:spPr>
          <a:xfrm>
            <a:off x="1028700" y="2852543"/>
            <a:ext cx="3202879" cy="6405757"/>
          </a:xfrm>
          <a:custGeom>
            <a:rect b="b" l="l" r="r" t="t"/>
            <a:pathLst>
              <a:path extrusionOk="0" h="6350000" w="3175000">
                <a:moveTo>
                  <a:pt x="2667000" y="6350000"/>
                </a:moveTo>
                <a:lnTo>
                  <a:pt x="508000" y="6350000"/>
                </a:lnTo>
                <a:cubicBezTo>
                  <a:pt x="227330" y="6350000"/>
                  <a:pt x="0" y="6122670"/>
                  <a:pt x="0" y="5842000"/>
                </a:cubicBezTo>
                <a:lnTo>
                  <a:pt x="0" y="508000"/>
                </a:lnTo>
                <a:cubicBezTo>
                  <a:pt x="0" y="227330"/>
                  <a:pt x="227330" y="0"/>
                  <a:pt x="508000" y="0"/>
                </a:cubicBezTo>
                <a:lnTo>
                  <a:pt x="2667000" y="0"/>
                </a:lnTo>
                <a:cubicBezTo>
                  <a:pt x="2947670" y="0"/>
                  <a:pt x="3175000" y="227330"/>
                  <a:pt x="3175000" y="508000"/>
                </a:cubicBezTo>
                <a:lnTo>
                  <a:pt x="3175000" y="5842000"/>
                </a:lnTo>
                <a:cubicBezTo>
                  <a:pt x="3175000" y="6122670"/>
                  <a:pt x="2947670" y="6350000"/>
                  <a:pt x="2667000" y="635000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107147" r="-14882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14058900" y="2852543"/>
            <a:ext cx="3202879" cy="6405757"/>
          </a:xfrm>
          <a:custGeom>
            <a:rect b="b" l="l" r="r" t="t"/>
            <a:pathLst>
              <a:path extrusionOk="0" h="6350000" w="3175000">
                <a:moveTo>
                  <a:pt x="2667000" y="6350000"/>
                </a:moveTo>
                <a:lnTo>
                  <a:pt x="508000" y="6350000"/>
                </a:lnTo>
                <a:cubicBezTo>
                  <a:pt x="227330" y="6350000"/>
                  <a:pt x="0" y="6122670"/>
                  <a:pt x="0" y="5842000"/>
                </a:cubicBezTo>
                <a:lnTo>
                  <a:pt x="0" y="508000"/>
                </a:lnTo>
                <a:cubicBezTo>
                  <a:pt x="0" y="227330"/>
                  <a:pt x="227330" y="0"/>
                  <a:pt x="508000" y="0"/>
                </a:cubicBezTo>
                <a:lnTo>
                  <a:pt x="2667000" y="0"/>
                </a:lnTo>
                <a:cubicBezTo>
                  <a:pt x="2947670" y="0"/>
                  <a:pt x="3175000" y="227330"/>
                  <a:pt x="3175000" y="508000"/>
                </a:cubicBezTo>
                <a:lnTo>
                  <a:pt x="3175000" y="5842000"/>
                </a:lnTo>
                <a:cubicBezTo>
                  <a:pt x="3175000" y="6122670"/>
                  <a:pt x="2947670" y="6350000"/>
                  <a:pt x="2667000" y="635000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99916" r="-9991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5651445" y="937302"/>
            <a:ext cx="7150155" cy="1244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DIFICULDADES À POPULAÇÃO URBANA</a:t>
            </a:r>
            <a:endParaRPr/>
          </a:p>
        </p:txBody>
      </p:sp>
      <p:sp>
        <p:nvSpPr>
          <p:cNvPr id="132" name="Google Shape;132;p4"/>
          <p:cNvSpPr txBox="1"/>
          <p:nvPr/>
        </p:nvSpPr>
        <p:spPr>
          <a:xfrm>
            <a:off x="5292929" y="2978396"/>
            <a:ext cx="77046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 contaminação</a:t>
            </a: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dos canais de água e a presença massiva de lixo nos espaços das cidades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colabora com outros problemas…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5292925" y="5241224"/>
            <a:ext cx="77046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Espaços poluídos são um terreno fértil para a proliferação de parasitas, animais contaminados, vírus e bactérias que causam ou transmitem doenças.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5292925" y="7629899"/>
            <a:ext cx="7704600" cy="12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Não só os espaços públicos estão sujeitos a estas contaminações, mas até mesmo os domicílios e ambientes privados…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2185416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0" name="Google Shape;140;p5"/>
          <p:cNvSpPr/>
          <p:nvPr/>
        </p:nvSpPr>
        <p:spPr>
          <a:xfrm flipH="1">
            <a:off x="888637" y="4349963"/>
            <a:ext cx="5237379" cy="4734691"/>
          </a:xfrm>
          <a:custGeom>
            <a:rect b="b" l="l" r="r" t="t"/>
            <a:pathLst>
              <a:path extrusionOk="0" h="5741670" w="6351270">
                <a:moveTo>
                  <a:pt x="0" y="5199380"/>
                </a:moveTo>
                <a:lnTo>
                  <a:pt x="0" y="3348990"/>
                </a:lnTo>
                <a:cubicBezTo>
                  <a:pt x="0" y="3050540"/>
                  <a:pt x="242570" y="2807970"/>
                  <a:pt x="542290" y="2807970"/>
                </a:cubicBezTo>
                <a:lnTo>
                  <a:pt x="1148080" y="2807970"/>
                </a:lnTo>
                <a:cubicBezTo>
                  <a:pt x="1447800" y="2807970"/>
                  <a:pt x="1690370" y="2565400"/>
                  <a:pt x="1690370" y="2265680"/>
                </a:cubicBezTo>
                <a:lnTo>
                  <a:pt x="1690370" y="542290"/>
                </a:lnTo>
                <a:cubicBezTo>
                  <a:pt x="1690370" y="242570"/>
                  <a:pt x="1932940" y="0"/>
                  <a:pt x="2232660" y="0"/>
                </a:cubicBezTo>
                <a:lnTo>
                  <a:pt x="3599180" y="0"/>
                </a:lnTo>
                <a:cubicBezTo>
                  <a:pt x="3735070" y="0"/>
                  <a:pt x="3867150" y="52070"/>
                  <a:pt x="3967480" y="143510"/>
                </a:cubicBezTo>
                <a:lnTo>
                  <a:pt x="6177280" y="2188210"/>
                </a:lnTo>
                <a:cubicBezTo>
                  <a:pt x="6287770" y="2291080"/>
                  <a:pt x="6351270" y="2434590"/>
                  <a:pt x="6351270" y="2585720"/>
                </a:cubicBezTo>
                <a:lnTo>
                  <a:pt x="6351270" y="5199380"/>
                </a:lnTo>
                <a:cubicBezTo>
                  <a:pt x="6350000" y="5499100"/>
                  <a:pt x="6107430" y="5741670"/>
                  <a:pt x="5807710" y="5741670"/>
                </a:cubicBezTo>
                <a:lnTo>
                  <a:pt x="542290" y="5741670"/>
                </a:lnTo>
                <a:cubicBezTo>
                  <a:pt x="242570" y="5741670"/>
                  <a:pt x="0" y="5499100"/>
                  <a:pt x="0" y="519938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65735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3907668" y="1171257"/>
            <a:ext cx="5237379" cy="4734691"/>
          </a:xfrm>
          <a:custGeom>
            <a:rect b="b" l="l" r="r" t="t"/>
            <a:pathLst>
              <a:path extrusionOk="0" h="5741670" w="6351270">
                <a:moveTo>
                  <a:pt x="0" y="542290"/>
                </a:moveTo>
                <a:lnTo>
                  <a:pt x="0" y="2392680"/>
                </a:lnTo>
                <a:cubicBezTo>
                  <a:pt x="0" y="2691130"/>
                  <a:pt x="242570" y="2933700"/>
                  <a:pt x="542290" y="2933700"/>
                </a:cubicBezTo>
                <a:lnTo>
                  <a:pt x="1148080" y="2933700"/>
                </a:lnTo>
                <a:cubicBezTo>
                  <a:pt x="1447800" y="2933700"/>
                  <a:pt x="1690370" y="3176270"/>
                  <a:pt x="1690370" y="3475990"/>
                </a:cubicBezTo>
                <a:lnTo>
                  <a:pt x="1690370" y="5199380"/>
                </a:lnTo>
                <a:cubicBezTo>
                  <a:pt x="1690370" y="5499100"/>
                  <a:pt x="1932940" y="5741670"/>
                  <a:pt x="2232660" y="5741670"/>
                </a:cubicBezTo>
                <a:lnTo>
                  <a:pt x="3599180" y="5741670"/>
                </a:lnTo>
                <a:cubicBezTo>
                  <a:pt x="3735070" y="5741670"/>
                  <a:pt x="3867150" y="5689600"/>
                  <a:pt x="3967480" y="5598160"/>
                </a:cubicBezTo>
                <a:lnTo>
                  <a:pt x="6177280" y="3553460"/>
                </a:lnTo>
                <a:cubicBezTo>
                  <a:pt x="6287770" y="3450590"/>
                  <a:pt x="6351270" y="3307080"/>
                  <a:pt x="6351270" y="3155950"/>
                </a:cubicBezTo>
                <a:lnTo>
                  <a:pt x="6351270" y="542290"/>
                </a:lnTo>
                <a:cubicBezTo>
                  <a:pt x="6350000" y="242570"/>
                  <a:pt x="6107430" y="0"/>
                  <a:pt x="5807710" y="0"/>
                </a:cubicBezTo>
                <a:lnTo>
                  <a:pt x="542290" y="0"/>
                </a:lnTo>
                <a:cubicBezTo>
                  <a:pt x="242570" y="0"/>
                  <a:pt x="0" y="242570"/>
                  <a:pt x="0" y="54229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3449" r="-23449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569003" y="1398080"/>
            <a:ext cx="2936245" cy="3247990"/>
          </a:xfrm>
          <a:custGeom>
            <a:rect b="b" l="l" r="r" t="t"/>
            <a:pathLst>
              <a:path extrusionOk="0" h="6351270" w="5741670">
                <a:moveTo>
                  <a:pt x="542290" y="6351270"/>
                </a:moveTo>
                <a:lnTo>
                  <a:pt x="2392680" y="6351270"/>
                </a:lnTo>
                <a:cubicBezTo>
                  <a:pt x="2691130" y="6351270"/>
                  <a:pt x="2933700" y="6108700"/>
                  <a:pt x="2933700" y="5808980"/>
                </a:cubicBezTo>
                <a:lnTo>
                  <a:pt x="2933700" y="5203190"/>
                </a:lnTo>
                <a:cubicBezTo>
                  <a:pt x="2933700" y="4903470"/>
                  <a:pt x="3176270" y="4660900"/>
                  <a:pt x="3475990" y="4660900"/>
                </a:cubicBezTo>
                <a:lnTo>
                  <a:pt x="5199380" y="4660900"/>
                </a:lnTo>
                <a:cubicBezTo>
                  <a:pt x="5499100" y="4660900"/>
                  <a:pt x="5741670" y="4418330"/>
                  <a:pt x="5741670" y="4118610"/>
                </a:cubicBezTo>
                <a:lnTo>
                  <a:pt x="5741670" y="2752090"/>
                </a:lnTo>
                <a:cubicBezTo>
                  <a:pt x="5741670" y="2616200"/>
                  <a:pt x="5689600" y="2484120"/>
                  <a:pt x="5598160" y="2383790"/>
                </a:cubicBezTo>
                <a:lnTo>
                  <a:pt x="3553460" y="173990"/>
                </a:lnTo>
                <a:cubicBezTo>
                  <a:pt x="3450590" y="63500"/>
                  <a:pt x="3307080" y="0"/>
                  <a:pt x="3155950" y="0"/>
                </a:cubicBezTo>
                <a:lnTo>
                  <a:pt x="542290" y="0"/>
                </a:lnTo>
                <a:cubicBezTo>
                  <a:pt x="242570" y="1270"/>
                  <a:pt x="0" y="243840"/>
                  <a:pt x="0" y="543560"/>
                </a:cubicBezTo>
                <a:lnTo>
                  <a:pt x="0" y="5808980"/>
                </a:lnTo>
                <a:cubicBezTo>
                  <a:pt x="0" y="6108700"/>
                  <a:pt x="242570" y="6351270"/>
                  <a:pt x="542290" y="6351270"/>
                </a:cubicBez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307" r="-5306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9944100" y="1281100"/>
            <a:ext cx="7315200" cy="24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O problema das principais doenças urbanas causadas por falta de saneamento já possui medidas de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contingência</a:t>
            </a: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,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mas essas tão somente focam em eliminar os problemas uma vez que uma contaminação ou reprodução de vetores de doenças já se consumou.</a:t>
            </a:r>
            <a:endParaRPr/>
          </a:p>
        </p:txBody>
      </p:sp>
      <p:sp>
        <p:nvSpPr>
          <p:cNvPr id="144" name="Google Shape;144;p5"/>
          <p:cNvSpPr txBox="1"/>
          <p:nvPr/>
        </p:nvSpPr>
        <p:spPr>
          <a:xfrm>
            <a:off x="9944100" y="4057201"/>
            <a:ext cx="7315200" cy="29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Possuímos</a:t>
            </a: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um sistema de saneamento básico que realiza a coleta de lixo em dias seletos em cada região. Entretanto, ele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é incapaz de suprir toda a demanda da cidade de São Paulo, que produz cerca de 20 toneladas de lixo por dia (JORNAL DA USP, 2025).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45" name="Google Shape;145;p5"/>
          <p:cNvSpPr txBox="1"/>
          <p:nvPr/>
        </p:nvSpPr>
        <p:spPr>
          <a:xfrm>
            <a:off x="9944100" y="6849851"/>
            <a:ext cx="7315200" cy="29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Em 2024, tivemos o maior índice de casos de dengue no país. Estima-se que em 2026, teremos 1,8 milhão de casos, fazendo deste ano o segundo pior em número de casos, ficando atrás somente de 2024 (O GLOBO, 2025).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2203704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1" name="Google Shape;151;p6"/>
          <p:cNvSpPr/>
          <p:nvPr/>
        </p:nvSpPr>
        <p:spPr>
          <a:xfrm>
            <a:off x="1029044" y="2518149"/>
            <a:ext cx="7237897" cy="6740151"/>
          </a:xfrm>
          <a:custGeom>
            <a:rect b="b" l="l" r="r" t="t"/>
            <a:pathLst>
              <a:path extrusionOk="0" h="5911850" w="6348428">
                <a:moveTo>
                  <a:pt x="1146508" y="402590"/>
                </a:moveTo>
                <a:lnTo>
                  <a:pt x="108918" y="2192020"/>
                </a:lnTo>
                <a:cubicBezTo>
                  <a:pt x="-68882" y="2498090"/>
                  <a:pt x="-25702" y="2884170"/>
                  <a:pt x="214328" y="3144520"/>
                </a:cubicBezTo>
                <a:lnTo>
                  <a:pt x="2525728" y="5651500"/>
                </a:lnTo>
                <a:cubicBezTo>
                  <a:pt x="2678128" y="5817870"/>
                  <a:pt x="2894028" y="5911850"/>
                  <a:pt x="3118818" y="5911850"/>
                </a:cubicBezTo>
                <a:lnTo>
                  <a:pt x="5540708" y="5911850"/>
                </a:lnTo>
                <a:cubicBezTo>
                  <a:pt x="5986478" y="5911850"/>
                  <a:pt x="6348428" y="5549900"/>
                  <a:pt x="6348428" y="5104130"/>
                </a:cubicBezTo>
                <a:lnTo>
                  <a:pt x="6348428" y="1891030"/>
                </a:lnTo>
                <a:cubicBezTo>
                  <a:pt x="6348428" y="1724660"/>
                  <a:pt x="6297628" y="1562100"/>
                  <a:pt x="6201108" y="1426210"/>
                </a:cubicBezTo>
                <a:lnTo>
                  <a:pt x="5439108" y="342900"/>
                </a:lnTo>
                <a:cubicBezTo>
                  <a:pt x="5287978" y="128270"/>
                  <a:pt x="5041598" y="0"/>
                  <a:pt x="4778708" y="0"/>
                </a:cubicBezTo>
                <a:lnTo>
                  <a:pt x="1845008" y="0"/>
                </a:lnTo>
                <a:cubicBezTo>
                  <a:pt x="1556718" y="0"/>
                  <a:pt x="1290018" y="153670"/>
                  <a:pt x="1146508" y="40259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1913" r="-11914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"/>
          <p:cNvSpPr txBox="1"/>
          <p:nvPr/>
        </p:nvSpPr>
        <p:spPr>
          <a:xfrm>
            <a:off x="9744503" y="1671304"/>
            <a:ext cx="6396963" cy="23580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 SOLUÇÃO PROPOSTA</a:t>
            </a:r>
            <a:endParaRPr/>
          </a:p>
        </p:txBody>
      </p:sp>
      <p:sp>
        <p:nvSpPr>
          <p:cNvPr id="153" name="Google Shape;153;p6"/>
          <p:cNvSpPr txBox="1"/>
          <p:nvPr/>
        </p:nvSpPr>
        <p:spPr>
          <a:xfrm>
            <a:off x="9406625" y="4638675"/>
            <a:ext cx="7852800" cy="20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Utilizar cameras móveis instaladas em drones, que coletariam insights e os filtrariam com o uso de IA (auxiliado de monitoramento humano) para mapear as localidades 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onde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mais se faz necessária a coleta de lixo.</a:t>
            </a:r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9406625" y="6972300"/>
            <a:ext cx="7852800" cy="16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- A solução não somente tornaria o combate à dengue mais eficaz, mas também</a:t>
            </a: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 combateria outras doenças, como a leptospirose, as amebíases e outras viroses ou contaminações bacteriológicas.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210769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7"/>
          <p:cNvSpPr/>
          <p:nvPr/>
        </p:nvSpPr>
        <p:spPr>
          <a:xfrm>
            <a:off x="1356501" y="703399"/>
            <a:ext cx="5783418" cy="1924301"/>
          </a:xfrm>
          <a:custGeom>
            <a:rect b="b" l="l" r="r" t="t"/>
            <a:pathLst>
              <a:path extrusionOk="0" h="2691330" w="8088697">
                <a:moveTo>
                  <a:pt x="0" y="0"/>
                </a:moveTo>
                <a:lnTo>
                  <a:pt x="8088697" y="0"/>
                </a:lnTo>
                <a:lnTo>
                  <a:pt x="8088697" y="2691330"/>
                </a:lnTo>
                <a:lnTo>
                  <a:pt x="0" y="2691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7"/>
          <p:cNvSpPr txBox="1"/>
          <p:nvPr/>
        </p:nvSpPr>
        <p:spPr>
          <a:xfrm>
            <a:off x="1816820" y="1278273"/>
            <a:ext cx="48582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5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ATUALMENTE</a:t>
            </a:r>
            <a:endParaRPr sz="1000"/>
          </a:p>
        </p:txBody>
      </p:sp>
      <p:sp>
        <p:nvSpPr>
          <p:cNvPr id="162" name="Google Shape;162;p7"/>
          <p:cNvSpPr/>
          <p:nvPr/>
        </p:nvSpPr>
        <p:spPr>
          <a:xfrm>
            <a:off x="12587976" y="703399"/>
            <a:ext cx="5783418" cy="1924301"/>
          </a:xfrm>
          <a:custGeom>
            <a:rect b="b" l="l" r="r" t="t"/>
            <a:pathLst>
              <a:path extrusionOk="0" h="2691330" w="8088697">
                <a:moveTo>
                  <a:pt x="0" y="0"/>
                </a:moveTo>
                <a:lnTo>
                  <a:pt x="8088697" y="0"/>
                </a:lnTo>
                <a:lnTo>
                  <a:pt x="8088697" y="2691330"/>
                </a:lnTo>
                <a:lnTo>
                  <a:pt x="0" y="2691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7"/>
          <p:cNvSpPr txBox="1"/>
          <p:nvPr/>
        </p:nvSpPr>
        <p:spPr>
          <a:xfrm>
            <a:off x="13048295" y="1278273"/>
            <a:ext cx="4858200" cy="9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58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PROPOSTA</a:t>
            </a:r>
            <a:endParaRPr sz="1000"/>
          </a:p>
        </p:txBody>
      </p:sp>
      <p:sp>
        <p:nvSpPr>
          <p:cNvPr id="164" name="Google Shape;164;p7"/>
          <p:cNvSpPr/>
          <p:nvPr/>
        </p:nvSpPr>
        <p:spPr>
          <a:xfrm>
            <a:off x="2537263" y="2941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Data de coleta é agendada</a:t>
            </a:r>
            <a:endParaRPr sz="2300"/>
          </a:p>
        </p:txBody>
      </p:sp>
      <p:sp>
        <p:nvSpPr>
          <p:cNvPr id="165" name="Google Shape;165;p7"/>
          <p:cNvSpPr/>
          <p:nvPr/>
        </p:nvSpPr>
        <p:spPr>
          <a:xfrm>
            <a:off x="2533813" y="54475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Cidadãos depositam o lixo nos pontos</a:t>
            </a:r>
            <a:endParaRPr sz="2300"/>
          </a:p>
        </p:txBody>
      </p:sp>
      <p:sp>
        <p:nvSpPr>
          <p:cNvPr id="166" name="Google Shape;166;p7"/>
          <p:cNvSpPr/>
          <p:nvPr/>
        </p:nvSpPr>
        <p:spPr>
          <a:xfrm>
            <a:off x="2537263" y="7954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/>
              <a:t>Companhias recolhem em data marcada</a:t>
            </a:r>
            <a:endParaRPr sz="2300"/>
          </a:p>
        </p:txBody>
      </p:sp>
      <p:sp>
        <p:nvSpPr>
          <p:cNvPr id="167" name="Google Shape;167;p7"/>
          <p:cNvSpPr/>
          <p:nvPr/>
        </p:nvSpPr>
        <p:spPr>
          <a:xfrm>
            <a:off x="13765300" y="2941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chemeClr val="dk1"/>
                </a:solidFill>
              </a:rPr>
              <a:t>Cidadãos depositam o lixo nos pontos</a:t>
            </a:r>
            <a:endParaRPr sz="2300"/>
          </a:p>
        </p:txBody>
      </p:sp>
      <p:sp>
        <p:nvSpPr>
          <p:cNvPr id="168" name="Google Shape;168;p7"/>
          <p:cNvSpPr/>
          <p:nvPr/>
        </p:nvSpPr>
        <p:spPr>
          <a:xfrm>
            <a:off x="13767588" y="4612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Drones mapeiam regiões mais necessitadas</a:t>
            </a:r>
            <a:endParaRPr sz="2200"/>
          </a:p>
        </p:txBody>
      </p:sp>
      <p:sp>
        <p:nvSpPr>
          <p:cNvPr id="169" name="Google Shape;169;p7"/>
          <p:cNvSpPr/>
          <p:nvPr/>
        </p:nvSpPr>
        <p:spPr>
          <a:xfrm>
            <a:off x="13767575" y="7954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Companhias recolhem mediante a necessidade</a:t>
            </a:r>
            <a:endParaRPr sz="2200"/>
          </a:p>
        </p:txBody>
      </p:sp>
      <p:sp>
        <p:nvSpPr>
          <p:cNvPr id="170" name="Google Shape;170;p7"/>
          <p:cNvSpPr/>
          <p:nvPr/>
        </p:nvSpPr>
        <p:spPr>
          <a:xfrm>
            <a:off x="13767575" y="6283050"/>
            <a:ext cx="3424200" cy="10629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</a:rPr>
              <a:t>Gera-se insights das regiões mais poluídas</a:t>
            </a:r>
            <a:endParaRPr sz="2200"/>
          </a:p>
        </p:txBody>
      </p:sp>
      <p:cxnSp>
        <p:nvCxnSpPr>
          <p:cNvPr id="171" name="Google Shape;171;p7"/>
          <p:cNvCxnSpPr>
            <a:stCxn id="164" idx="2"/>
            <a:endCxn id="165" idx="0"/>
          </p:cNvCxnSpPr>
          <p:nvPr/>
        </p:nvCxnSpPr>
        <p:spPr>
          <a:xfrm flipH="1">
            <a:off x="4246063" y="4003950"/>
            <a:ext cx="3300" cy="1443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7"/>
          <p:cNvCxnSpPr/>
          <p:nvPr/>
        </p:nvCxnSpPr>
        <p:spPr>
          <a:xfrm flipH="1">
            <a:off x="4244263" y="6510450"/>
            <a:ext cx="3300" cy="14436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7"/>
          <p:cNvCxnSpPr>
            <a:stCxn id="167" idx="2"/>
            <a:endCxn id="168" idx="0"/>
          </p:cNvCxnSpPr>
          <p:nvPr/>
        </p:nvCxnSpPr>
        <p:spPr>
          <a:xfrm>
            <a:off x="15477400" y="4003950"/>
            <a:ext cx="2400" cy="608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7"/>
          <p:cNvCxnSpPr/>
          <p:nvPr/>
        </p:nvCxnSpPr>
        <p:spPr>
          <a:xfrm>
            <a:off x="15476200" y="5674950"/>
            <a:ext cx="2400" cy="608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7"/>
          <p:cNvCxnSpPr/>
          <p:nvPr/>
        </p:nvCxnSpPr>
        <p:spPr>
          <a:xfrm>
            <a:off x="15478500" y="7414850"/>
            <a:ext cx="2400" cy="608100"/>
          </a:xfrm>
          <a:prstGeom prst="straightConnector1">
            <a:avLst/>
          </a:prstGeom>
          <a:noFill/>
          <a:ln cap="flat" cmpd="sng" w="3810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a12407991_0_1"/>
          <p:cNvSpPr/>
          <p:nvPr/>
        </p:nvSpPr>
        <p:spPr>
          <a:xfrm>
            <a:off x="0" y="0"/>
            <a:ext cx="210769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g3aa12407991_0_1"/>
          <p:cNvSpPr/>
          <p:nvPr/>
        </p:nvSpPr>
        <p:spPr>
          <a:xfrm>
            <a:off x="9170600" y="1224275"/>
            <a:ext cx="7016945" cy="2334729"/>
          </a:xfrm>
          <a:custGeom>
            <a:rect b="b" l="l" r="r" t="t"/>
            <a:pathLst>
              <a:path extrusionOk="0" h="2691330" w="8088697">
                <a:moveTo>
                  <a:pt x="0" y="0"/>
                </a:moveTo>
                <a:lnTo>
                  <a:pt x="8088697" y="0"/>
                </a:lnTo>
                <a:lnTo>
                  <a:pt x="8088697" y="2691330"/>
                </a:lnTo>
                <a:lnTo>
                  <a:pt x="0" y="269133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2" name="Google Shape;182;g3aa12407991_0_1"/>
          <p:cNvSpPr/>
          <p:nvPr/>
        </p:nvSpPr>
        <p:spPr>
          <a:xfrm>
            <a:off x="928437" y="1190850"/>
            <a:ext cx="7208074" cy="7508875"/>
          </a:xfrm>
          <a:custGeom>
            <a:rect b="b" l="l" r="r" t="t"/>
            <a:pathLst>
              <a:path extrusionOk="0" h="6350000" w="6095623">
                <a:moveTo>
                  <a:pt x="5744537" y="0"/>
                </a:moveTo>
                <a:lnTo>
                  <a:pt x="349816" y="0"/>
                </a:lnTo>
                <a:cubicBezTo>
                  <a:pt x="156015" y="0"/>
                  <a:pt x="0" y="162560"/>
                  <a:pt x="0" y="364490"/>
                </a:cubicBezTo>
                <a:lnTo>
                  <a:pt x="0" y="5986780"/>
                </a:lnTo>
                <a:cubicBezTo>
                  <a:pt x="0" y="6187440"/>
                  <a:pt x="156015" y="6350000"/>
                  <a:pt x="349816" y="6350000"/>
                </a:cubicBezTo>
                <a:lnTo>
                  <a:pt x="5745756" y="6350000"/>
                </a:lnTo>
                <a:cubicBezTo>
                  <a:pt x="5938337" y="6350000"/>
                  <a:pt x="6095623" y="6187440"/>
                  <a:pt x="6095623" y="5985510"/>
                </a:cubicBezTo>
                <a:lnTo>
                  <a:pt x="6095623" y="364490"/>
                </a:lnTo>
                <a:cubicBezTo>
                  <a:pt x="6094352" y="162560"/>
                  <a:pt x="5938337" y="0"/>
                  <a:pt x="5744537" y="0"/>
                </a:cubicBez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41197" r="-41197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g3aa12407991_0_1"/>
          <p:cNvSpPr txBox="1"/>
          <p:nvPr/>
        </p:nvSpPr>
        <p:spPr>
          <a:xfrm>
            <a:off x="9730581" y="1894564"/>
            <a:ext cx="5910300" cy="11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343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BENEFÍCIOS</a:t>
            </a:r>
            <a:endParaRPr sz="1216"/>
          </a:p>
        </p:txBody>
      </p:sp>
      <p:sp>
        <p:nvSpPr>
          <p:cNvPr id="184" name="Google Shape;184;g3aa12407991_0_1"/>
          <p:cNvSpPr txBox="1"/>
          <p:nvPr/>
        </p:nvSpPr>
        <p:spPr>
          <a:xfrm>
            <a:off x="8981196" y="4097429"/>
            <a:ext cx="9035700" cy="460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Rotas de coleta geradas mediante necessidade</a:t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Estimativa de volume de lixo coletado</a:t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Aumento da Frequência de Coleta</a:t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Melhoria da Condição Pública</a:t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Melhoria da Condição Particular (Doméstica)</a:t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-248285" lvl="1" marL="496571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C1FF72"/>
              </a:buClr>
              <a:buSzPts val="2300"/>
              <a:buFont typeface="Arial"/>
              <a:buChar char="•"/>
            </a:pPr>
            <a:r>
              <a:rPr b="0" i="0" lang="en-US" sz="23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Redução de Riscos à Saúde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"/>
          <p:cNvSpPr/>
          <p:nvPr/>
        </p:nvSpPr>
        <p:spPr>
          <a:xfrm>
            <a:off x="0" y="0"/>
            <a:ext cx="21214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0" name="Google Shape;190;p8"/>
          <p:cNvSpPr/>
          <p:nvPr/>
        </p:nvSpPr>
        <p:spPr>
          <a:xfrm>
            <a:off x="9115425" y="5520406"/>
            <a:ext cx="2625166" cy="2661137"/>
          </a:xfrm>
          <a:custGeom>
            <a:rect b="b" l="l" r="r" t="t"/>
            <a:pathLst>
              <a:path extrusionOk="0" h="481364" w="474857">
                <a:moveTo>
                  <a:pt x="0" y="0"/>
                </a:moveTo>
                <a:lnTo>
                  <a:pt x="474857" y="0"/>
                </a:lnTo>
                <a:lnTo>
                  <a:pt x="474857" y="481364"/>
                </a:lnTo>
                <a:lnTo>
                  <a:pt x="0" y="481364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1621" r="-1620" t="0"/>
            </a:stretch>
          </a:blipFill>
          <a:ln>
            <a:noFill/>
          </a:ln>
        </p:spPr>
      </p:sp>
      <p:sp>
        <p:nvSpPr>
          <p:cNvPr id="191" name="Google Shape;191;p8"/>
          <p:cNvSpPr/>
          <p:nvPr/>
        </p:nvSpPr>
        <p:spPr>
          <a:xfrm>
            <a:off x="14020670" y="5540232"/>
            <a:ext cx="2625166" cy="2661137"/>
          </a:xfrm>
          <a:custGeom>
            <a:rect b="b" l="l" r="r" t="t"/>
            <a:pathLst>
              <a:path extrusionOk="0" h="481364" w="474857">
                <a:moveTo>
                  <a:pt x="0" y="0"/>
                </a:moveTo>
                <a:lnTo>
                  <a:pt x="474857" y="0"/>
                </a:lnTo>
                <a:lnTo>
                  <a:pt x="474857" y="481364"/>
                </a:lnTo>
                <a:lnTo>
                  <a:pt x="0" y="481364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77" l="0" r="0" t="-31608"/>
            </a:stretch>
          </a:blipFill>
          <a:ln>
            <a:noFill/>
          </a:ln>
        </p:spPr>
      </p:sp>
      <p:sp>
        <p:nvSpPr>
          <p:cNvPr id="192" name="Google Shape;192;p8"/>
          <p:cNvSpPr txBox="1"/>
          <p:nvPr/>
        </p:nvSpPr>
        <p:spPr>
          <a:xfrm>
            <a:off x="8034013" y="3196233"/>
            <a:ext cx="9225287" cy="1171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6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CONCLUSÃO</a:t>
            </a:r>
            <a:endParaRPr/>
          </a:p>
        </p:txBody>
      </p:sp>
      <p:sp>
        <p:nvSpPr>
          <p:cNvPr id="193" name="Google Shape;193;p8"/>
          <p:cNvSpPr txBox="1"/>
          <p:nvPr/>
        </p:nvSpPr>
        <p:spPr>
          <a:xfrm>
            <a:off x="14020670" y="8611871"/>
            <a:ext cx="3624045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Silas Rodrigues Nascimento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9115425" y="8611871"/>
            <a:ext cx="4554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Davi Deosmar Batista Oliveira Miranda</a:t>
            </a:r>
            <a:endParaRPr sz="1300"/>
          </a:p>
        </p:txBody>
      </p:sp>
      <p:sp>
        <p:nvSpPr>
          <p:cNvPr id="195" name="Google Shape;195;p8"/>
          <p:cNvSpPr txBox="1"/>
          <p:nvPr/>
        </p:nvSpPr>
        <p:spPr>
          <a:xfrm>
            <a:off x="1028700" y="3429000"/>
            <a:ext cx="5788800" cy="50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A solução traz não somente uma proposta para mudar a forma de coletar resíduos de lixo, mas também traz uma mudança disruptiva e inovadora na logística das companhias de saneamento, de modo a estas empregarem esforços mediante a necessidade de cada localidade, além de preservar os ambientes domiciliares e empresariais de acúmulo de resíduos e causas de infecção.</a:t>
            </a:r>
            <a:endParaRPr b="0" i="0" sz="2300" u="none" cap="none" strike="noStrike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  <p:sp>
        <p:nvSpPr>
          <p:cNvPr id="196" name="Google Shape;196;p8"/>
          <p:cNvSpPr txBox="1"/>
          <p:nvPr/>
        </p:nvSpPr>
        <p:spPr>
          <a:xfrm>
            <a:off x="9115425" y="8993823"/>
            <a:ext cx="1770000" cy="3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823.212.382</a:t>
            </a:r>
            <a:endParaRPr/>
          </a:p>
        </p:txBody>
      </p:sp>
      <p:sp>
        <p:nvSpPr>
          <p:cNvPr id="197" name="Google Shape;197;p8"/>
          <p:cNvSpPr txBox="1"/>
          <p:nvPr/>
        </p:nvSpPr>
        <p:spPr>
          <a:xfrm>
            <a:off x="14020670" y="8993823"/>
            <a:ext cx="2956600" cy="31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823.273.38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a12407991_0_25"/>
          <p:cNvSpPr/>
          <p:nvPr/>
        </p:nvSpPr>
        <p:spPr>
          <a:xfrm>
            <a:off x="0" y="0"/>
            <a:ext cx="2121408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g3aa12407991_0_25"/>
          <p:cNvSpPr txBox="1"/>
          <p:nvPr/>
        </p:nvSpPr>
        <p:spPr>
          <a:xfrm>
            <a:off x="5387763" y="422283"/>
            <a:ext cx="9225300" cy="13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Referências</a:t>
            </a:r>
            <a:endParaRPr/>
          </a:p>
        </p:txBody>
      </p:sp>
      <p:sp>
        <p:nvSpPr>
          <p:cNvPr id="204" name="Google Shape;204;g3aa12407991_0_25"/>
          <p:cNvSpPr txBox="1"/>
          <p:nvPr/>
        </p:nvSpPr>
        <p:spPr>
          <a:xfrm>
            <a:off x="1303275" y="1889600"/>
            <a:ext cx="17394300" cy="79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G1. Prefeitura de SP começa a usar drones para detectar e eliminar focos do mosquito da dengue [Recurso eletrônico]. Disponível em: https://g1.globo.com/sp/sao-paulo/ noticia/2024/03/05/prefeitura-de-sp-comeca-a-usar-drones-para-detectar-e-eliminarfocos-do-mosquito-da-dengue.ghtml. Acesso em: 23 nov. 2025.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Jornal da USP. São Paulo produz cerca de 20 mil toneladas de resíduos urbanos, mas reciclagem é muito baixa [Recurso eletrônico]. Disponível em: https://jornal.usp.br/ radio-usp/sao-paulo-produz-cerca-de-20-mil-toneladas-de-residuos-urbanos-masreciclagem-e-muito-baixa/.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 Globo. Apesar de ações de limpeza, qualidade do rio Pinheiros se mantém ‘péssima’, aponta relatório [Recurso eletrônico]. Disponível em: https://oglobo.globo.com/brasil/ meio-ambiente/noticia/2025/03/21/apesar-de-acoes-de-limpeza-qualidade-do-riopinheiros-se-mantem-pessima-aponta-relatorio.ghtml.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Prefeitura de São Paulo. Coleta de Lixo [Recurso eletrônico]. Disponível em: https:// prefeitura.sp.gov.br/w/servico/coleta-de-lixo.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Scielo Brasil. Casos de dengue e coleta de lixo urbano: um estudo na Cidade do Recife, Brasil [Recurso eletrônico]. Disponível em: https://www.scielo.br/j/csc/a/ 4BtH7Bdg9YFjhB6ZKWC6rWj/? lang=pt#:~:text=Al%C3%A9m%20disso%2C%20a%20exist%C3%AAncia%20de,popula%C3%A7%C3%A3o%20dos%20mosquitos%20da%20regi%C3%A3o.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G1. Câmeras com IA ajudam a prender procurados pela Justiça no interior de SP; saiba como sistema funciona [Recurso eletrônico]. Disponível em: https://g1.globo.com/sp/ itapetininga-regiao/noticia/2025/07/17/sistema-com-ia-ajuda-a-prender-seis-procuradosem-cinco-dias-no-interior-de-sp.ghtml.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 Globo. Dengue: Brasil terá 1,8 milhão de casos em 2026, projetam cientistas, tornando-se o 2º ano com mais casos da doença [Recurso eletrônico]. Disponível em: https://oglobo.globo.com/saude/noticia/2025/11/06/dengue-brasil-deve-ter-18-milhaode-casos-em-2026-tornando-se-o-2o-ano-com-mais-diagnosticos.ghtml. Acesso em: 23 nov. 2025.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GAMA, R. A. et al. Efeito da densidade larval no tamanho de adultos de Aedes aegypti criados em condições de laboratório. Rev. Soc. Bras. Med. Trop., 2005; 38(1):64-66. 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THAMMAPALO, S. et al. Environmental factors and incidence of dengue fever and dengue haemorrhagic fever in an urban area, Southern Thailand. Epidemiol. Infect, 2008; 136(1):135-143.</a:t>
            </a:r>
            <a:endParaRPr sz="1500">
              <a:solidFill>
                <a:srgbClr val="C1FF72"/>
              </a:solidFill>
              <a:latin typeface="Anonymous Pro"/>
              <a:ea typeface="Anonymous Pro"/>
              <a:cs typeface="Anonymous Pro"/>
              <a:sym typeface="Anonymous P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"/>
          <p:cNvSpPr/>
          <p:nvPr/>
        </p:nvSpPr>
        <p:spPr>
          <a:xfrm>
            <a:off x="0" y="0"/>
            <a:ext cx="2039112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10"/>
          <p:cNvSpPr txBox="1"/>
          <p:nvPr/>
        </p:nvSpPr>
        <p:spPr>
          <a:xfrm>
            <a:off x="3360660" y="3718937"/>
            <a:ext cx="11566680" cy="25538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877" u="none" cap="none" strike="noStrike">
                <a:solidFill>
                  <a:srgbClr val="C1FF72"/>
                </a:solidFill>
                <a:latin typeface="Anonymous Pro"/>
                <a:ea typeface="Anonymous Pro"/>
                <a:cs typeface="Anonymous Pro"/>
                <a:sym typeface="Anonymous Pro"/>
              </a:rPr>
              <a:t>OBRIGADO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1028700" y="5063866"/>
            <a:ext cx="637073" cy="159268"/>
          </a:xfrm>
          <a:custGeom>
            <a:rect b="b" l="l" r="r" t="t"/>
            <a:pathLst>
              <a:path extrusionOk="0"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2" name="Google Shape;212;p10"/>
          <p:cNvSpPr/>
          <p:nvPr/>
        </p:nvSpPr>
        <p:spPr>
          <a:xfrm>
            <a:off x="16622227" y="5063866"/>
            <a:ext cx="637073" cy="159268"/>
          </a:xfrm>
          <a:custGeom>
            <a:rect b="b" l="l" r="r" t="t"/>
            <a:pathLst>
              <a:path extrusionOk="0" h="159268" w="637073">
                <a:moveTo>
                  <a:pt x="0" y="0"/>
                </a:moveTo>
                <a:lnTo>
                  <a:pt x="637073" y="0"/>
                </a:lnTo>
                <a:lnTo>
                  <a:pt x="637073" y="159268"/>
                </a:lnTo>
                <a:lnTo>
                  <a:pt x="0" y="1592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0"/>
          <p:cNvSpPr/>
          <p:nvPr/>
        </p:nvSpPr>
        <p:spPr>
          <a:xfrm>
            <a:off x="9944100" y="8180971"/>
            <a:ext cx="7315200" cy="1077329"/>
          </a:xfrm>
          <a:custGeom>
            <a:rect b="b" l="l" r="r" t="t"/>
            <a:pathLst>
              <a:path extrusionOk="0" h="1077329" w="7315200">
                <a:moveTo>
                  <a:pt x="0" y="0"/>
                </a:moveTo>
                <a:lnTo>
                  <a:pt x="7315200" y="0"/>
                </a:lnTo>
                <a:lnTo>
                  <a:pt x="7315200" y="1077329"/>
                </a:lnTo>
                <a:lnTo>
                  <a:pt x="0" y="10773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4" name="Google Shape;214;p10"/>
          <p:cNvSpPr/>
          <p:nvPr/>
        </p:nvSpPr>
        <p:spPr>
          <a:xfrm flipH="1">
            <a:off x="1028700" y="8180971"/>
            <a:ext cx="7315200" cy="1077329"/>
          </a:xfrm>
          <a:custGeom>
            <a:rect b="b" l="l" r="r" t="t"/>
            <a:pathLst>
              <a:path extrusionOk="0" h="1077329" w="7315200">
                <a:moveTo>
                  <a:pt x="7315200" y="0"/>
                </a:moveTo>
                <a:lnTo>
                  <a:pt x="0" y="0"/>
                </a:lnTo>
                <a:lnTo>
                  <a:pt x="0" y="1077329"/>
                </a:lnTo>
                <a:lnTo>
                  <a:pt x="7315200" y="1077329"/>
                </a:lnTo>
                <a:lnTo>
                  <a:pt x="731520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